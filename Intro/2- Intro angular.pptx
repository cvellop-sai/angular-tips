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ioHxNY7P/LuamJcCsM5e8ptZjf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5183188" y="987425"/>
            <a:ext cx="6172200" cy="4873625"/>
          </a:xfrm>
          <a:prstGeom prst="rect">
            <a:avLst/>
          </a:prstGeom>
          <a:noFill/>
          <a:ln>
            <a:noFill/>
          </a:ln>
        </p:spPr>
      </p:sp>
      <p:sp>
        <p:nvSpPr>
          <p:cNvPr id="64" name="Google Shape;64;p2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s-ES"/>
              <a:t>INTRODUCCIÓN ANGULAR</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PILARES FUNDAMENTALES DE ANGULAR	</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s-ES"/>
              <a:t>COMPONENTES. Un bloque de código que tiene su segmento html y una contraparte de typescript. Se intenta que los componentes sean bloques pequeños de código y  lo más simples posible. </a:t>
            </a:r>
            <a:endParaRPr/>
          </a:p>
          <a:p>
            <a:pPr indent="-228600" lvl="0" marL="228600" rtl="0" algn="l">
              <a:lnSpc>
                <a:spcPct val="90000"/>
              </a:lnSpc>
              <a:spcBef>
                <a:spcPts val="1000"/>
              </a:spcBef>
              <a:spcAft>
                <a:spcPts val="0"/>
              </a:spcAft>
              <a:buClr>
                <a:schemeClr val="dk1"/>
              </a:buClr>
              <a:buSzPct val="100000"/>
              <a:buChar char="•"/>
            </a:pPr>
            <a:r>
              <a:rPr lang="es-ES"/>
              <a:t>SERVICIOS. Permiten trabajar con toda la aplicación de forma centralizada </a:t>
            </a:r>
            <a:endParaRPr/>
          </a:p>
          <a:p>
            <a:pPr indent="-228600" lvl="0" marL="228600" rtl="0" algn="l">
              <a:lnSpc>
                <a:spcPct val="90000"/>
              </a:lnSpc>
              <a:spcBef>
                <a:spcPts val="1000"/>
              </a:spcBef>
              <a:spcAft>
                <a:spcPts val="0"/>
              </a:spcAft>
              <a:buClr>
                <a:schemeClr val="dk1"/>
              </a:buClr>
              <a:buSzPct val="100000"/>
              <a:buChar char="•"/>
            </a:pPr>
            <a:r>
              <a:rPr lang="es-ES"/>
              <a:t>DIRECTIVAS. Tres tipos: </a:t>
            </a:r>
            <a:endParaRPr/>
          </a:p>
          <a:p>
            <a:pPr indent="-228600" lvl="1" marL="685800" rtl="0" algn="l">
              <a:lnSpc>
                <a:spcPct val="90000"/>
              </a:lnSpc>
              <a:spcBef>
                <a:spcPts val="500"/>
              </a:spcBef>
              <a:spcAft>
                <a:spcPts val="0"/>
              </a:spcAft>
              <a:buClr>
                <a:schemeClr val="dk1"/>
              </a:buClr>
              <a:buSzPct val="100000"/>
              <a:buChar char="•"/>
            </a:pPr>
            <a:r>
              <a:rPr lang="es-ES"/>
              <a:t>De componentes. Es muy parecido a un componente, salvo que tienen un trozo de código html reutilizable. Es decir, tu creas esa directiva y ya crea ese html con cierta funcionalidad integrada.</a:t>
            </a:r>
            <a:endParaRPr/>
          </a:p>
          <a:p>
            <a:pPr indent="-228600" lvl="1" marL="685800" rtl="0" algn="l">
              <a:lnSpc>
                <a:spcPct val="90000"/>
              </a:lnSpc>
              <a:spcBef>
                <a:spcPts val="500"/>
              </a:spcBef>
              <a:spcAft>
                <a:spcPts val="0"/>
              </a:spcAft>
              <a:buClr>
                <a:schemeClr val="dk1"/>
              </a:buClr>
              <a:buSzPct val="100000"/>
              <a:buChar char="•"/>
            </a:pPr>
            <a:r>
              <a:rPr lang="es-ES"/>
              <a:t>Estructurales. Modifica el DOM o el HTML. Añadiendo o borrando elementos.</a:t>
            </a:r>
            <a:endParaRPr/>
          </a:p>
          <a:p>
            <a:pPr indent="-228600" lvl="1" marL="685800" rtl="0" algn="l">
              <a:lnSpc>
                <a:spcPct val="90000"/>
              </a:lnSpc>
              <a:spcBef>
                <a:spcPts val="500"/>
              </a:spcBef>
              <a:spcAft>
                <a:spcPts val="0"/>
              </a:spcAft>
              <a:buClr>
                <a:schemeClr val="dk1"/>
              </a:buClr>
              <a:buSzPct val="100000"/>
              <a:buChar char="•"/>
            </a:pPr>
            <a:r>
              <a:rPr lang="es-ES"/>
              <a:t>De atributos. Cambian el comportamiento de un elemento, un componente o una directiva.</a:t>
            </a:r>
            <a:endParaRPr/>
          </a:p>
          <a:p>
            <a:pPr indent="-228600" lvl="0" marL="228600" rtl="0" algn="l">
              <a:lnSpc>
                <a:spcPct val="90000"/>
              </a:lnSpc>
              <a:spcBef>
                <a:spcPts val="1000"/>
              </a:spcBef>
              <a:spcAft>
                <a:spcPts val="0"/>
              </a:spcAft>
              <a:buClr>
                <a:schemeClr val="dk1"/>
              </a:buClr>
              <a:buSzPct val="100000"/>
              <a:buChar char="•"/>
            </a:pPr>
            <a:r>
              <a:rPr lang="es-ES"/>
              <a:t>RUTAS. Mostrar diferentes componentes basados en el URL del navegador web.</a:t>
            </a:r>
            <a:endParaRPr/>
          </a:p>
          <a:p>
            <a:pPr indent="-228600" lvl="0" marL="228600" rtl="0" algn="l">
              <a:lnSpc>
                <a:spcPct val="90000"/>
              </a:lnSpc>
              <a:spcBef>
                <a:spcPts val="1000"/>
              </a:spcBef>
              <a:spcAft>
                <a:spcPts val="0"/>
              </a:spcAft>
              <a:buClr>
                <a:schemeClr val="dk1"/>
              </a:buClr>
              <a:buSzPct val="100000"/>
              <a:buChar char="•"/>
            </a:pPr>
            <a:r>
              <a:rPr lang="es-ES"/>
              <a:t>MÓDULOS. SE UTILIZAN PARA AGRUPAR TODO LO ANTERIOR. INCLUSO, OTROS MÓDULOS. Ejemplo: Módulo de productos, módulo de clientes, autentificación, etc.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ANGULAR. CREANDO EL PRIMER PROYECTO	</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lang="es-ES"/>
              <a:t>Pondremos en el terminal:  </a:t>
            </a:r>
            <a:endParaRPr/>
          </a:p>
          <a:p>
            <a:pPr indent="-514350" lvl="0" marL="514350" rtl="0" algn="l">
              <a:lnSpc>
                <a:spcPct val="90000"/>
              </a:lnSpc>
              <a:spcBef>
                <a:spcPts val="1000"/>
              </a:spcBef>
              <a:spcAft>
                <a:spcPts val="0"/>
              </a:spcAft>
              <a:buClr>
                <a:schemeClr val="accent6"/>
              </a:buClr>
              <a:buSzPts val="2800"/>
              <a:buFont typeface="Calibri"/>
              <a:buAutoNum type="arabicPeriod"/>
            </a:pPr>
            <a:r>
              <a:rPr b="1" lang="es-ES">
                <a:solidFill>
                  <a:schemeClr val="accent6"/>
                </a:solidFill>
              </a:rPr>
              <a:t>ng new bases</a:t>
            </a:r>
            <a:r>
              <a:rPr lang="es-ES"/>
              <a:t>. //Bases es el nombre del proyecto. Para los siguientes pasos pueden que cambien algunas opciones, dependiendo de la versión, aunque basta con leerlo.</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s-ES"/>
              <a:t>Angular routing. No //Para hacerlo nosotros de manera manual y aprender.</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s-ES"/>
              <a:t>CSS/SCSS/.. //Con </a:t>
            </a:r>
            <a:r>
              <a:rPr lang="es-ES"/>
              <a:t>qué</a:t>
            </a:r>
            <a:r>
              <a:rPr lang="es-ES"/>
              <a:t> estilos queremos trabajar. Comencemos con css.</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s-ES"/>
              <a:t>Una vez instalado, nos vamos a la carpeta del proyecto y tecleamos:</a:t>
            </a:r>
            <a:endParaRPr/>
          </a:p>
          <a:p>
            <a:pPr indent="-514350" lvl="0" marL="514350" rtl="0" algn="l">
              <a:lnSpc>
                <a:spcPct val="90000"/>
              </a:lnSpc>
              <a:spcBef>
                <a:spcPts val="1000"/>
              </a:spcBef>
              <a:spcAft>
                <a:spcPts val="0"/>
              </a:spcAft>
              <a:buClr>
                <a:schemeClr val="accent6"/>
              </a:buClr>
              <a:buSzPts val="2800"/>
              <a:buFont typeface="Calibri"/>
              <a:buAutoNum type="arabicPeriod"/>
            </a:pPr>
            <a:r>
              <a:rPr b="1" lang="es-ES">
                <a:solidFill>
                  <a:schemeClr val="accent6"/>
                </a:solidFill>
              </a:rPr>
              <a:t>ng serve -o</a:t>
            </a:r>
            <a:endParaRPr/>
          </a:p>
          <a:p>
            <a:pPr indent="-336550" lvl="0" marL="514350" rtl="0" algn="l">
              <a:lnSpc>
                <a:spcPct val="90000"/>
              </a:lnSpc>
              <a:spcBef>
                <a:spcPts val="1000"/>
              </a:spcBef>
              <a:spcAft>
                <a:spcPts val="0"/>
              </a:spcAft>
              <a:buClr>
                <a:schemeClr val="dk1"/>
              </a:buClr>
              <a:buSzPts val="2800"/>
              <a:buFont typeface="Calibri"/>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ANGULAR. Algunos archivos de angular</a:t>
            </a:r>
            <a:endParaRPr/>
          </a:p>
        </p:txBody>
      </p:sp>
      <p:pic>
        <p:nvPicPr>
          <p:cNvPr id="103" name="Google Shape;103;p4"/>
          <p:cNvPicPr preferRelativeResize="0"/>
          <p:nvPr>
            <p:ph idx="1" type="body"/>
          </p:nvPr>
        </p:nvPicPr>
        <p:blipFill rotWithShape="1">
          <a:blip r:embed="rId3">
            <a:alphaModFix/>
          </a:blip>
          <a:srcRect b="0" l="0" r="0" t="0"/>
          <a:stretch/>
        </p:blipFill>
        <p:spPr>
          <a:xfrm>
            <a:off x="1195266" y="1853124"/>
            <a:ext cx="1743318" cy="4039164"/>
          </a:xfrm>
          <a:prstGeom prst="rect">
            <a:avLst/>
          </a:prstGeom>
          <a:noFill/>
          <a:ln>
            <a:noFill/>
          </a:ln>
        </p:spPr>
      </p:pic>
      <p:sp>
        <p:nvSpPr>
          <p:cNvPr id="104" name="Google Shape;104;p4"/>
          <p:cNvSpPr txBox="1"/>
          <p:nvPr/>
        </p:nvSpPr>
        <p:spPr>
          <a:xfrm>
            <a:off x="3300412" y="1853124"/>
            <a:ext cx="8053387" cy="36933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1800" u="none" cap="none" strike="noStrike">
                <a:solidFill>
                  <a:schemeClr val="dk1"/>
                </a:solidFill>
                <a:latin typeface="Calibri"/>
                <a:ea typeface="Calibri"/>
                <a:cs typeface="Calibri"/>
                <a:sym typeface="Calibri"/>
              </a:rPr>
              <a:t>Tsconfig. Archivo de configuración de typeScript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Tsconfig.spec.json. Archivo de extensión de tsconfig. Para pruebas</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Tsconfig.app.json. Archivo de extensión de tsconfig. Para tu aplicación</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Readme. Nos ofrece información de angular, su versión, etc</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Package.json. El archivo de instalación donde se instalan todas las dependencias.</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Angular.json. Es un archivo que tiene configuraciones importantes para nuestra aplicación. Por ejemplo, donde esta el favicon, los styles, etc.</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Gitignore. Son los archivos que yo no quiero que git le haga seguimiento. Por ejemplo, la carpeta de dist (distribución), tmp (archivos temporales) etc.</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SRC. Es donde nosotros trabajamos con nuestro proyecto.</a:t>
            </a:r>
            <a:endParaRPr/>
          </a:p>
          <a:p>
            <a:pPr indent="0" lvl="0" marL="0" marR="0" rtl="0" algn="l">
              <a:spcBef>
                <a:spcPts val="0"/>
              </a:spcBef>
              <a:spcAft>
                <a:spcPts val="0"/>
              </a:spcAft>
              <a:buNone/>
            </a:pPr>
            <a:r>
              <a:rPr lang="es-ES" sz="1800">
                <a:solidFill>
                  <a:schemeClr val="dk1"/>
                </a:solidFill>
                <a:latin typeface="Calibri"/>
                <a:ea typeface="Calibri"/>
                <a:cs typeface="Calibri"/>
                <a:sym typeface="Calibri"/>
              </a:rPr>
              <a:t>Modules. Son los módulos instalados.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ANGULAR. CONTENIDO DE SRC</a:t>
            </a:r>
            <a:endParaRPr/>
          </a:p>
        </p:txBody>
      </p:sp>
      <p:sp>
        <p:nvSpPr>
          <p:cNvPr id="110" name="Google Shape;110;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s-ES"/>
              <a:t>Dentro de la carpeta app:</a:t>
            </a:r>
            <a:endParaRPr/>
          </a:p>
          <a:p>
            <a:pPr indent="-228600" lvl="1" marL="685800" rtl="0" algn="l">
              <a:lnSpc>
                <a:spcPct val="90000"/>
              </a:lnSpc>
              <a:spcBef>
                <a:spcPts val="500"/>
              </a:spcBef>
              <a:spcAft>
                <a:spcPts val="0"/>
              </a:spcAft>
              <a:buClr>
                <a:schemeClr val="dk1"/>
              </a:buClr>
              <a:buSzPct val="100000"/>
              <a:buChar char="•"/>
            </a:pPr>
            <a:r>
              <a:rPr lang="es-ES"/>
              <a:t>App.component.html: Es el html que el usuario va a ver. Si elimino todo lo que viene y ponemos un h1 con información, veremos que se modifica y se muestra en el proyecto (Estar seguros de que el proyecto está corriendo)</a:t>
            </a:r>
            <a:endParaRPr/>
          </a:p>
          <a:p>
            <a:pPr indent="-228600" lvl="1" marL="685800" rtl="0" algn="l">
              <a:lnSpc>
                <a:spcPct val="90000"/>
              </a:lnSpc>
              <a:spcBef>
                <a:spcPts val="500"/>
              </a:spcBef>
              <a:spcAft>
                <a:spcPts val="0"/>
              </a:spcAft>
              <a:buClr>
                <a:schemeClr val="dk1"/>
              </a:buClr>
              <a:buSzPct val="100000"/>
              <a:buChar char="•"/>
            </a:pPr>
            <a:r>
              <a:rPr lang="es-ES"/>
              <a:t>App.component.spec.ts: Es para pruebas, si quereis lo podéis borrar que no pasa nada.</a:t>
            </a:r>
            <a:endParaRPr/>
          </a:p>
          <a:p>
            <a:pPr indent="-228600" lvl="1" marL="685800" rtl="0" algn="l">
              <a:lnSpc>
                <a:spcPct val="90000"/>
              </a:lnSpc>
              <a:spcBef>
                <a:spcPts val="500"/>
              </a:spcBef>
              <a:spcAft>
                <a:spcPts val="0"/>
              </a:spcAft>
              <a:buClr>
                <a:schemeClr val="dk1"/>
              </a:buClr>
              <a:buSzPct val="100000"/>
              <a:buChar char="•"/>
            </a:pPr>
            <a:r>
              <a:rPr lang="es-ES"/>
              <a:t>app.component.ts Es una clase de typeScripts . Lo veremos más adelante.</a:t>
            </a:r>
            <a:endParaRPr/>
          </a:p>
          <a:p>
            <a:pPr indent="-228600" lvl="1" marL="685800" rtl="0" algn="l">
              <a:lnSpc>
                <a:spcPct val="90000"/>
              </a:lnSpc>
              <a:spcBef>
                <a:spcPts val="500"/>
              </a:spcBef>
              <a:spcAft>
                <a:spcPts val="0"/>
              </a:spcAft>
              <a:buClr>
                <a:schemeClr val="dk1"/>
              </a:buClr>
              <a:buSzPct val="100000"/>
              <a:buChar char="•"/>
            </a:pPr>
            <a:r>
              <a:rPr lang="es-ES"/>
              <a:t>App.module.ts Es una clase de typeScripts con un decorador. Lo veremos más adelante.</a:t>
            </a:r>
            <a:endParaRPr/>
          </a:p>
          <a:p>
            <a:pPr indent="-228600" lvl="0" marL="228600" rtl="0" algn="l">
              <a:lnSpc>
                <a:spcPct val="90000"/>
              </a:lnSpc>
              <a:spcBef>
                <a:spcPts val="1000"/>
              </a:spcBef>
              <a:spcAft>
                <a:spcPts val="0"/>
              </a:spcAft>
              <a:buClr>
                <a:schemeClr val="dk1"/>
              </a:buClr>
              <a:buSzPct val="100000"/>
              <a:buChar char="•"/>
            </a:pPr>
            <a:r>
              <a:rPr lang="es-ES"/>
              <a:t>Dentro de la carpeta assets:</a:t>
            </a:r>
            <a:endParaRPr/>
          </a:p>
          <a:p>
            <a:pPr indent="-228600" lvl="1" marL="685800" rtl="0" algn="l">
              <a:lnSpc>
                <a:spcPct val="90000"/>
              </a:lnSpc>
              <a:spcBef>
                <a:spcPts val="500"/>
              </a:spcBef>
              <a:spcAft>
                <a:spcPts val="0"/>
              </a:spcAft>
              <a:buClr>
                <a:schemeClr val="dk1"/>
              </a:buClr>
              <a:buSzPct val="100000"/>
              <a:buChar char="•"/>
            </a:pPr>
            <a:r>
              <a:rPr lang="es-ES"/>
              <a:t>Recursos estáticos como imágenes, sonidos, etc</a:t>
            </a:r>
            <a:endParaRPr/>
          </a:p>
          <a:p>
            <a:pPr indent="-228600" lvl="0" marL="228600" rtl="0" algn="l">
              <a:lnSpc>
                <a:spcPct val="90000"/>
              </a:lnSpc>
              <a:spcBef>
                <a:spcPts val="1000"/>
              </a:spcBef>
              <a:spcAft>
                <a:spcPts val="0"/>
              </a:spcAft>
              <a:buClr>
                <a:schemeClr val="dk1"/>
              </a:buClr>
              <a:buSzPct val="100000"/>
              <a:buChar char="•"/>
            </a:pPr>
            <a:r>
              <a:rPr lang="es-ES"/>
              <a:t>Carpeta enviroment:</a:t>
            </a:r>
            <a:endParaRPr/>
          </a:p>
          <a:p>
            <a:pPr indent="-228600" lvl="1" marL="685800" rtl="0" algn="l">
              <a:lnSpc>
                <a:spcPct val="90000"/>
              </a:lnSpc>
              <a:spcBef>
                <a:spcPts val="500"/>
              </a:spcBef>
              <a:spcAft>
                <a:spcPts val="0"/>
              </a:spcAft>
              <a:buClr>
                <a:schemeClr val="dk1"/>
              </a:buClr>
              <a:buSzPct val="100000"/>
              <a:buChar char="•"/>
            </a:pPr>
            <a:r>
              <a:rPr lang="es-ES"/>
              <a:t>Contiene dos archivos bastante útiles. Aquí van a estar tanto las variables de entorno tanto de desarrollo como de producción. </a:t>
            </a:r>
            <a:endParaRPr/>
          </a:p>
          <a:p>
            <a:pPr indent="-87630" lvl="1" marL="685800" rtl="0" algn="l">
              <a:lnSpc>
                <a:spcPct val="90000"/>
              </a:lnSpc>
              <a:spcBef>
                <a:spcPts val="500"/>
              </a:spcBef>
              <a:spcAft>
                <a:spcPts val="0"/>
              </a:spcAft>
              <a:buClr>
                <a:schemeClr val="dk1"/>
              </a:buClr>
              <a:buSzPct val="100000"/>
              <a:buNone/>
            </a:pPr>
            <a:r>
              <a:t/>
            </a:r>
            <a:endParaRPr/>
          </a:p>
          <a:p>
            <a:pPr indent="-87630" lvl="1" marL="685800" rtl="0" algn="l">
              <a:lnSpc>
                <a:spcPct val="90000"/>
              </a:lnSpc>
              <a:spcBef>
                <a:spcPts val="500"/>
              </a:spcBef>
              <a:spcAft>
                <a:spcPts val="0"/>
              </a:spcAft>
              <a:buClr>
                <a:schemeClr val="dk1"/>
              </a:buClr>
              <a:buSzPct val="100000"/>
              <a:buNone/>
            </a:pPr>
            <a:r>
              <a:t/>
            </a:r>
            <a:endParaRPr/>
          </a:p>
          <a:p>
            <a:pPr indent="-87630" lvl="1" marL="685800" rtl="0" algn="l">
              <a:lnSpc>
                <a:spcPct val="90000"/>
              </a:lnSpc>
              <a:spcBef>
                <a:spcPts val="500"/>
              </a:spcBef>
              <a:spcAft>
                <a:spcPts val="0"/>
              </a:spcAft>
              <a:buClr>
                <a:schemeClr val="dk1"/>
              </a:buClr>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ANGULAR. CONTENIDO DE SRC</a:t>
            </a:r>
            <a:endParaRPr/>
          </a:p>
        </p:txBody>
      </p:sp>
      <p:sp>
        <p:nvSpPr>
          <p:cNvPr id="116" name="Google Shape;116;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Index. Es el documento principal de nuestra app. Concretamente, todo lo que nosotros agregamos mediante angular se va a incrustar en &lt;app-root&gt;&lt;/app-root&gt;</a:t>
            </a:r>
            <a:endParaRPr/>
          </a:p>
          <a:p>
            <a:pPr indent="-228600" lvl="0" marL="228600" rtl="0" algn="l">
              <a:lnSpc>
                <a:spcPct val="90000"/>
              </a:lnSpc>
              <a:spcBef>
                <a:spcPts val="1000"/>
              </a:spcBef>
              <a:spcAft>
                <a:spcPts val="0"/>
              </a:spcAft>
              <a:buClr>
                <a:schemeClr val="dk1"/>
              </a:buClr>
              <a:buSzPts val="2800"/>
              <a:buChar char="•"/>
            </a:pPr>
            <a:r>
              <a:rPr lang="es-ES"/>
              <a:t>Main.ts. No se va a modificar de forma generalizada.</a:t>
            </a:r>
            <a:endParaRPr/>
          </a:p>
          <a:p>
            <a:pPr indent="-228600" lvl="0" marL="228600" rtl="0" algn="l">
              <a:lnSpc>
                <a:spcPct val="90000"/>
              </a:lnSpc>
              <a:spcBef>
                <a:spcPts val="1000"/>
              </a:spcBef>
              <a:spcAft>
                <a:spcPts val="0"/>
              </a:spcAft>
              <a:buClr>
                <a:schemeClr val="dk1"/>
              </a:buClr>
              <a:buSzPts val="2800"/>
              <a:buChar char="•"/>
            </a:pPr>
            <a:r>
              <a:rPr lang="es-ES"/>
              <a:t>Polyfills. Para la compatibilidad con todos los navegadores webs</a:t>
            </a:r>
            <a:endParaRPr/>
          </a:p>
          <a:p>
            <a:pPr indent="-228600" lvl="0" marL="228600" rtl="0" algn="l">
              <a:lnSpc>
                <a:spcPct val="90000"/>
              </a:lnSpc>
              <a:spcBef>
                <a:spcPts val="1000"/>
              </a:spcBef>
              <a:spcAft>
                <a:spcPts val="0"/>
              </a:spcAft>
              <a:buClr>
                <a:schemeClr val="dk1"/>
              </a:buClr>
              <a:buSzPts val="2800"/>
              <a:buChar char="•"/>
            </a:pPr>
            <a:r>
              <a:rPr lang="es-ES"/>
              <a:t>Styles. Aquí es donde van los estilos a nivel general. El de los components que vimos antes es sólo para el componente pero este es para todo el proyecto.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ANGULAR. CONTENIDO DE APP</a:t>
            </a:r>
            <a:endParaRPr/>
          </a:p>
        </p:txBody>
      </p:sp>
      <p:sp>
        <p:nvSpPr>
          <p:cNvPr id="122" name="Google Shape;122;p7"/>
          <p:cNvSpPr txBox="1"/>
          <p:nvPr>
            <p:ph idx="1" type="body"/>
          </p:nvPr>
        </p:nvSpPr>
        <p:spPr>
          <a:xfrm>
            <a:off x="838200" y="1825625"/>
            <a:ext cx="10515600" cy="4832350"/>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0" algn="l">
              <a:lnSpc>
                <a:spcPct val="90000"/>
              </a:lnSpc>
              <a:spcBef>
                <a:spcPts val="0"/>
              </a:spcBef>
              <a:spcAft>
                <a:spcPts val="0"/>
              </a:spcAft>
              <a:buClr>
                <a:schemeClr val="dk1"/>
              </a:buClr>
              <a:buSzPct val="100000"/>
              <a:buChar char="•"/>
            </a:pPr>
            <a:r>
              <a:rPr lang="es-ES" sz="2900"/>
              <a:t>Contenido de </a:t>
            </a:r>
            <a:r>
              <a:rPr b="1" lang="es-ES" sz="2900"/>
              <a:t>app.component.ts</a:t>
            </a:r>
            <a:endParaRPr b="1" sz="2900"/>
          </a:p>
          <a:p>
            <a:pPr indent="-228600" lvl="0" marL="228600" rtl="0" algn="l">
              <a:lnSpc>
                <a:spcPct val="90000"/>
              </a:lnSpc>
              <a:spcBef>
                <a:spcPts val="1000"/>
              </a:spcBef>
              <a:spcAft>
                <a:spcPts val="0"/>
              </a:spcAft>
              <a:buClr>
                <a:schemeClr val="dk1"/>
              </a:buClr>
              <a:buSzPct val="100000"/>
              <a:buChar char="•"/>
            </a:pPr>
            <a:r>
              <a:rPr lang="es-ES" sz="2900"/>
              <a:t>import { Component } from '@angular/core’; //importa el componente de las librerías de angular</a:t>
            </a:r>
            <a:endParaRPr/>
          </a:p>
          <a:p>
            <a:pPr indent="-228600" lvl="0" marL="228600" rtl="0" algn="l">
              <a:lnSpc>
                <a:spcPct val="90000"/>
              </a:lnSpc>
              <a:spcBef>
                <a:spcPts val="1000"/>
              </a:spcBef>
              <a:spcAft>
                <a:spcPts val="0"/>
              </a:spcAft>
              <a:buClr>
                <a:schemeClr val="dk1"/>
              </a:buClr>
              <a:buSzPct val="100000"/>
              <a:buChar char="•"/>
            </a:pPr>
            <a:br>
              <a:rPr lang="es-ES" sz="2900"/>
            </a:br>
            <a:r>
              <a:rPr lang="es-ES" sz="2900"/>
              <a:t>@Component({ // Para que funcione el componente va a necesitar, al menos, un objeto con </a:t>
            </a:r>
            <a:r>
              <a:rPr b="1" lang="es-ES" sz="2900"/>
              <a:t>selector</a:t>
            </a:r>
            <a:r>
              <a:rPr lang="es-ES" sz="2900"/>
              <a:t> y </a:t>
            </a:r>
            <a:r>
              <a:rPr b="1" lang="es-ES" sz="2900"/>
              <a:t>template</a:t>
            </a:r>
            <a:r>
              <a:rPr lang="es-ES" sz="2900"/>
              <a:t> </a:t>
            </a:r>
            <a:endParaRPr/>
          </a:p>
          <a:p>
            <a:pPr indent="-228600" lvl="0" marL="228600" rtl="0" algn="l">
              <a:lnSpc>
                <a:spcPct val="90000"/>
              </a:lnSpc>
              <a:spcBef>
                <a:spcPts val="1000"/>
              </a:spcBef>
              <a:spcAft>
                <a:spcPts val="0"/>
              </a:spcAft>
              <a:buClr>
                <a:schemeClr val="dk1"/>
              </a:buClr>
              <a:buSzPct val="100000"/>
              <a:buChar char="•"/>
            </a:pPr>
            <a:r>
              <a:rPr lang="es-ES" sz="2900"/>
              <a:t>  selector: 'app-root’, // Este dice a que parte del index.html afecta. </a:t>
            </a:r>
            <a:endParaRPr/>
          </a:p>
          <a:p>
            <a:pPr indent="-127318" lvl="0" marL="228600" rtl="0" algn="l">
              <a:lnSpc>
                <a:spcPct val="90000"/>
              </a:lnSpc>
              <a:spcBef>
                <a:spcPts val="1000"/>
              </a:spcBef>
              <a:spcAft>
                <a:spcPts val="0"/>
              </a:spcAft>
              <a:buClr>
                <a:schemeClr val="dk1"/>
              </a:buClr>
              <a:buSzPct val="100000"/>
              <a:buNone/>
            </a:pPr>
            <a:r>
              <a:t/>
            </a:r>
            <a:endParaRPr sz="2900"/>
          </a:p>
          <a:p>
            <a:pPr indent="-127318" lvl="0" marL="228600" rtl="0" algn="l">
              <a:lnSpc>
                <a:spcPct val="90000"/>
              </a:lnSpc>
              <a:spcBef>
                <a:spcPts val="1000"/>
              </a:spcBef>
              <a:spcAft>
                <a:spcPts val="0"/>
              </a:spcAft>
              <a:buClr>
                <a:schemeClr val="dk1"/>
              </a:buClr>
              <a:buSzPct val="100000"/>
              <a:buNone/>
            </a:pPr>
            <a:r>
              <a:t/>
            </a:r>
            <a:endParaRPr sz="2900"/>
          </a:p>
          <a:p>
            <a:pPr indent="-228600" lvl="0" marL="228600" rtl="0" algn="l">
              <a:lnSpc>
                <a:spcPct val="90000"/>
              </a:lnSpc>
              <a:spcBef>
                <a:spcPts val="1000"/>
              </a:spcBef>
              <a:spcAft>
                <a:spcPts val="0"/>
              </a:spcAft>
              <a:buClr>
                <a:schemeClr val="dk1"/>
              </a:buClr>
              <a:buSzPct val="100000"/>
              <a:buChar char="•"/>
            </a:pPr>
            <a:r>
              <a:rPr lang="es-ES" sz="2900"/>
              <a:t>  templateUrl: './app.component.html’, //Este es el componente html que se relaciona con nuestro 						componente. Se podría sustituir por templatey badtips. 						Dentro de los badtips añadimos el contenido html</a:t>
            </a:r>
            <a:endParaRPr sz="2900"/>
          </a:p>
          <a:p>
            <a:pPr indent="-228600" lvl="0" marL="228600" rtl="0" algn="l">
              <a:lnSpc>
                <a:spcPct val="90000"/>
              </a:lnSpc>
              <a:spcBef>
                <a:spcPts val="1000"/>
              </a:spcBef>
              <a:spcAft>
                <a:spcPts val="0"/>
              </a:spcAft>
              <a:buClr>
                <a:schemeClr val="dk1"/>
              </a:buClr>
              <a:buSzPct val="100000"/>
              <a:buChar char="•"/>
            </a:pPr>
            <a:r>
              <a:rPr lang="es-ES" sz="2900"/>
              <a:t>  styleUrls: ['./app.component.css’] //En el caso de que queramos añadir sus propios estilos</a:t>
            </a:r>
            <a:endParaRPr/>
          </a:p>
          <a:p>
            <a:pPr indent="-228600" lvl="0" marL="228600" rtl="0" algn="l">
              <a:lnSpc>
                <a:spcPct val="90000"/>
              </a:lnSpc>
              <a:spcBef>
                <a:spcPts val="1000"/>
              </a:spcBef>
              <a:spcAft>
                <a:spcPts val="0"/>
              </a:spcAft>
              <a:buClr>
                <a:schemeClr val="dk1"/>
              </a:buClr>
              <a:buSzPct val="100000"/>
              <a:buChar char="•"/>
            </a:pPr>
            <a:r>
              <a:rPr lang="es-ES" sz="2900"/>
              <a:t>})</a:t>
            </a:r>
            <a:endParaRPr/>
          </a:p>
          <a:p>
            <a:pPr indent="-228600" lvl="0" marL="228600" rtl="0" algn="l">
              <a:lnSpc>
                <a:spcPct val="90000"/>
              </a:lnSpc>
              <a:spcBef>
                <a:spcPts val="1000"/>
              </a:spcBef>
              <a:spcAft>
                <a:spcPts val="0"/>
              </a:spcAft>
              <a:buClr>
                <a:schemeClr val="dk1"/>
              </a:buClr>
              <a:buSzPct val="100000"/>
              <a:buChar char="•"/>
            </a:pPr>
            <a:r>
              <a:rPr lang="es-ES" sz="2900"/>
              <a:t>export class AppComponent { //Aquí añadimos los elementos que queramos hacer particulares de nuestra app/componente</a:t>
            </a:r>
            <a:endParaRPr/>
          </a:p>
          <a:p>
            <a:pPr indent="-228600" lvl="0" marL="228600" rtl="0" algn="l">
              <a:lnSpc>
                <a:spcPct val="90000"/>
              </a:lnSpc>
              <a:spcBef>
                <a:spcPts val="1000"/>
              </a:spcBef>
              <a:spcAft>
                <a:spcPts val="0"/>
              </a:spcAft>
              <a:buClr>
                <a:schemeClr val="dk1"/>
              </a:buClr>
              <a:buSzPct val="100000"/>
              <a:buChar char="•"/>
            </a:pPr>
            <a:r>
              <a:rPr lang="es-ES" sz="2900"/>
              <a:t>  title = 'Mi primer angular';</a:t>
            </a:r>
            <a:endParaRPr/>
          </a:p>
          <a:p>
            <a:pPr indent="-228600" lvl="0" marL="228600" rtl="0" algn="l">
              <a:lnSpc>
                <a:spcPct val="90000"/>
              </a:lnSpc>
              <a:spcBef>
                <a:spcPts val="1000"/>
              </a:spcBef>
              <a:spcAft>
                <a:spcPts val="0"/>
              </a:spcAft>
              <a:buClr>
                <a:schemeClr val="dk1"/>
              </a:buClr>
              <a:buSzPct val="100000"/>
              <a:buChar char="•"/>
            </a:pPr>
            <a:r>
              <a:rPr lang="es-ES" sz="2900"/>
              <a:t>  numero:number=10;</a:t>
            </a:r>
            <a:endParaRPr/>
          </a:p>
          <a:p>
            <a:pPr indent="-228600" lvl="0" marL="228600" rtl="0" algn="l">
              <a:lnSpc>
                <a:spcPct val="90000"/>
              </a:lnSpc>
              <a:spcBef>
                <a:spcPts val="1000"/>
              </a:spcBef>
              <a:spcAft>
                <a:spcPts val="0"/>
              </a:spcAft>
              <a:buClr>
                <a:schemeClr val="dk1"/>
              </a:buClr>
              <a:buSzPct val="100000"/>
              <a:buChar char="•"/>
            </a:pPr>
            <a:r>
              <a:rPr lang="es-ES" sz="2900"/>
              <a:t>}</a:t>
            </a:r>
            <a:endParaRPr/>
          </a:p>
          <a:p>
            <a:pPr indent="-130810" lvl="0" marL="228600" rtl="0" algn="l">
              <a:lnSpc>
                <a:spcPct val="90000"/>
              </a:lnSpc>
              <a:spcBef>
                <a:spcPts val="1000"/>
              </a:spcBef>
              <a:spcAft>
                <a:spcPts val="0"/>
              </a:spcAft>
              <a:buClr>
                <a:schemeClr val="dk1"/>
              </a:buClr>
              <a:buSzPct val="100000"/>
              <a:buNone/>
            </a:pPr>
            <a:r>
              <a:t/>
            </a:r>
            <a:endParaRPr/>
          </a:p>
        </p:txBody>
      </p:sp>
      <p:pic>
        <p:nvPicPr>
          <p:cNvPr id="123" name="Google Shape;123;p7"/>
          <p:cNvPicPr preferRelativeResize="0"/>
          <p:nvPr/>
        </p:nvPicPr>
        <p:blipFill rotWithShape="1">
          <a:blip r:embed="rId3">
            <a:alphaModFix/>
          </a:blip>
          <a:srcRect b="0" l="0" r="0" t="0"/>
          <a:stretch/>
        </p:blipFill>
        <p:spPr>
          <a:xfrm>
            <a:off x="7248363" y="2995535"/>
            <a:ext cx="2324424" cy="562053"/>
          </a:xfrm>
          <a:prstGeom prst="rect">
            <a:avLst/>
          </a:prstGeom>
          <a:noFill/>
          <a:ln>
            <a:noFill/>
          </a:ln>
        </p:spPr>
      </p:pic>
      <p:cxnSp>
        <p:nvCxnSpPr>
          <p:cNvPr id="124" name="Google Shape;124;p7"/>
          <p:cNvCxnSpPr/>
          <p:nvPr/>
        </p:nvCxnSpPr>
        <p:spPr>
          <a:xfrm>
            <a:off x="6757988" y="2995535"/>
            <a:ext cx="490500" cy="261900"/>
          </a:xfrm>
          <a:prstGeom prst="bentConnector3">
            <a:avLst>
              <a:gd fmla="val 50000" name="adj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ANGULAR. CONTENIDO DE APP</a:t>
            </a:r>
            <a:endParaRPr/>
          </a:p>
        </p:txBody>
      </p:sp>
      <p:sp>
        <p:nvSpPr>
          <p:cNvPr id="130" name="Google Shape;130;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s-ES"/>
              <a:t>Contenido de </a:t>
            </a:r>
            <a:r>
              <a:rPr b="1" lang="es-ES"/>
              <a:t>app.component.html</a:t>
            </a:r>
            <a:endParaRPr/>
          </a:p>
          <a:p>
            <a:pPr indent="-228600" lvl="0" marL="228600" rtl="0" algn="l">
              <a:lnSpc>
                <a:spcPct val="90000"/>
              </a:lnSpc>
              <a:spcBef>
                <a:spcPts val="1000"/>
              </a:spcBef>
              <a:spcAft>
                <a:spcPts val="0"/>
              </a:spcAft>
              <a:buClr>
                <a:schemeClr val="dk1"/>
              </a:buClr>
              <a:buSzPct val="100000"/>
              <a:buChar char="•"/>
            </a:pPr>
            <a:r>
              <a:rPr lang="es-ES"/>
              <a:t>En este documento vamos a añadir todo el contenido html:</a:t>
            </a:r>
            <a:endParaRPr/>
          </a:p>
          <a:p>
            <a:pPr indent="-228600" lvl="1" marL="685800" rtl="0" algn="l">
              <a:lnSpc>
                <a:spcPct val="90000"/>
              </a:lnSpc>
              <a:spcBef>
                <a:spcPts val="500"/>
              </a:spcBef>
              <a:spcAft>
                <a:spcPts val="0"/>
              </a:spcAft>
              <a:buClr>
                <a:schemeClr val="dk1"/>
              </a:buClr>
              <a:buSzPct val="100000"/>
              <a:buChar char="•"/>
            </a:pPr>
            <a:r>
              <a:rPr lang="es-ES"/>
              <a:t>Aquí podremos utilizar todas las variables de las clases que hemos definido en app.component.ts. Para ello sólo tendremos que abrir y cerrar con dos llaves </a:t>
            </a:r>
            <a:r>
              <a:rPr b="1" lang="es-ES"/>
              <a:t>{{ variable }}</a:t>
            </a:r>
            <a:endParaRPr/>
          </a:p>
          <a:p>
            <a:pPr indent="-228600" lvl="1" marL="685800" rtl="0" algn="l">
              <a:lnSpc>
                <a:spcPct val="90000"/>
              </a:lnSpc>
              <a:spcBef>
                <a:spcPts val="500"/>
              </a:spcBef>
              <a:spcAft>
                <a:spcPts val="0"/>
              </a:spcAft>
              <a:buClr>
                <a:schemeClr val="dk1"/>
              </a:buClr>
              <a:buSzPct val="100000"/>
              <a:buChar char="•"/>
            </a:pPr>
            <a:r>
              <a:rPr lang="es-ES"/>
              <a:t>Además, podremos utilizar los eventos de manera muy sencilla. Basta con poner paréntesis y el evento a utilizar. &lt;button (click)=“acciones a realizar"&gt;</a:t>
            </a:r>
            <a:endParaRPr/>
          </a:p>
          <a:p>
            <a:pPr indent="-228600" lvl="1" marL="685800" rtl="0" algn="l">
              <a:lnSpc>
                <a:spcPct val="90000"/>
              </a:lnSpc>
              <a:spcBef>
                <a:spcPts val="500"/>
              </a:spcBef>
              <a:spcAft>
                <a:spcPts val="0"/>
              </a:spcAft>
              <a:buClr>
                <a:schemeClr val="dk1"/>
              </a:buClr>
              <a:buSzPct val="100000"/>
              <a:buChar char="•"/>
            </a:pPr>
            <a:r>
              <a:rPr b="1" lang="es-ES"/>
              <a:t>Ejemplo:</a:t>
            </a:r>
            <a:r>
              <a:rPr lang="es-ES"/>
              <a:t> Realizar un contador con la info del </a:t>
            </a:r>
            <a:r>
              <a:rPr b="1" lang="es-ES"/>
              <a:t>app.component.ts</a:t>
            </a:r>
            <a:r>
              <a:rPr lang="es-ES"/>
              <a:t> anterior:</a:t>
            </a:r>
            <a:endParaRPr/>
          </a:p>
          <a:p>
            <a:pPr indent="-87630" lvl="1" marL="685800" rtl="0" algn="l">
              <a:lnSpc>
                <a:spcPct val="90000"/>
              </a:lnSpc>
              <a:spcBef>
                <a:spcPts val="500"/>
              </a:spcBef>
              <a:spcAft>
                <a:spcPts val="0"/>
              </a:spcAft>
              <a:buClr>
                <a:schemeClr val="dk1"/>
              </a:buClr>
              <a:buSzPct val="100000"/>
              <a:buNone/>
            </a:pPr>
            <a:r>
              <a:t/>
            </a:r>
            <a:endParaRPr/>
          </a:p>
          <a:p>
            <a:pPr indent="0" lvl="1" marL="457200" rtl="0" algn="l">
              <a:lnSpc>
                <a:spcPct val="90000"/>
              </a:lnSpc>
              <a:spcBef>
                <a:spcPts val="500"/>
              </a:spcBef>
              <a:spcAft>
                <a:spcPts val="0"/>
              </a:spcAft>
              <a:buClr>
                <a:schemeClr val="accent6"/>
              </a:buClr>
              <a:buSzPct val="100000"/>
              <a:buNone/>
            </a:pPr>
            <a:r>
              <a:rPr lang="es-ES">
                <a:solidFill>
                  <a:schemeClr val="accent6"/>
                </a:solidFill>
              </a:rPr>
              <a:t>&lt;h1&gt; {{ title }}&lt;/h1&gt;</a:t>
            </a:r>
            <a:endParaRPr/>
          </a:p>
          <a:p>
            <a:pPr indent="0" lvl="1" marL="457200" rtl="0" algn="l">
              <a:lnSpc>
                <a:spcPct val="90000"/>
              </a:lnSpc>
              <a:spcBef>
                <a:spcPts val="500"/>
              </a:spcBef>
              <a:spcAft>
                <a:spcPts val="0"/>
              </a:spcAft>
              <a:buClr>
                <a:schemeClr val="accent6"/>
              </a:buClr>
              <a:buSzPct val="100000"/>
              <a:buNone/>
            </a:pPr>
            <a:r>
              <a:rPr lang="es-ES">
                <a:solidFill>
                  <a:schemeClr val="accent6"/>
                </a:solidFill>
              </a:rPr>
              <a:t>&lt;button (click)="numero=numero-1"&gt; - &lt;/button&gt;</a:t>
            </a:r>
            <a:endParaRPr/>
          </a:p>
          <a:p>
            <a:pPr indent="0" lvl="1" marL="457200" rtl="0" algn="l">
              <a:lnSpc>
                <a:spcPct val="90000"/>
              </a:lnSpc>
              <a:spcBef>
                <a:spcPts val="500"/>
              </a:spcBef>
              <a:spcAft>
                <a:spcPts val="0"/>
              </a:spcAft>
              <a:buClr>
                <a:schemeClr val="accent6"/>
              </a:buClr>
              <a:buSzPct val="100000"/>
              <a:buNone/>
            </a:pPr>
            <a:r>
              <a:rPr lang="es-ES">
                <a:solidFill>
                  <a:schemeClr val="accent6"/>
                </a:solidFill>
              </a:rPr>
              <a:t>&lt;span&gt; {{ numero }} &lt;/span&gt;</a:t>
            </a:r>
            <a:endParaRPr/>
          </a:p>
          <a:p>
            <a:pPr indent="0" lvl="1" marL="457200" rtl="0" algn="l">
              <a:lnSpc>
                <a:spcPct val="90000"/>
              </a:lnSpc>
              <a:spcBef>
                <a:spcPts val="500"/>
              </a:spcBef>
              <a:spcAft>
                <a:spcPts val="0"/>
              </a:spcAft>
              <a:buClr>
                <a:schemeClr val="accent6"/>
              </a:buClr>
              <a:buSzPct val="100000"/>
              <a:buNone/>
            </a:pPr>
            <a:r>
              <a:rPr lang="es-ES">
                <a:solidFill>
                  <a:schemeClr val="accent6"/>
                </a:solidFill>
              </a:rPr>
              <a:t>&lt;button (click)="numero=numero+1"&gt; + &lt;/button&gt;</a:t>
            </a:r>
            <a:endParaRPr/>
          </a:p>
          <a:p>
            <a:pPr indent="-87630" lvl="1" marL="685800" rtl="0" algn="l">
              <a:lnSpc>
                <a:spcPct val="90000"/>
              </a:lnSpc>
              <a:spcBef>
                <a:spcPts val="500"/>
              </a:spcBef>
              <a:spcAft>
                <a:spcPts val="0"/>
              </a:spcAft>
              <a:buClr>
                <a:schemeClr val="dk1"/>
              </a:buClr>
              <a:buSzPct val="100000"/>
              <a:buNone/>
            </a:pPr>
            <a:r>
              <a:t/>
            </a:r>
            <a:endParaRPr/>
          </a:p>
          <a:p>
            <a:pPr indent="-87630" lvl="1" marL="685800" rtl="0" algn="l">
              <a:lnSpc>
                <a:spcPct val="90000"/>
              </a:lnSpc>
              <a:spcBef>
                <a:spcPts val="500"/>
              </a:spcBef>
              <a:spcAft>
                <a:spcPts val="0"/>
              </a:spcAft>
              <a:buClr>
                <a:schemeClr val="dk1"/>
              </a:buClr>
              <a:buSzPct val="100000"/>
              <a:buNone/>
            </a:pPr>
            <a:r>
              <a:t/>
            </a:r>
            <a:endParaRPr/>
          </a:p>
          <a:p>
            <a:pPr indent="-87630" lvl="1" marL="685800" rtl="0" algn="l">
              <a:lnSpc>
                <a:spcPct val="90000"/>
              </a:lnSpc>
              <a:spcBef>
                <a:spcPts val="500"/>
              </a:spcBef>
              <a:spcAft>
                <a:spcPts val="0"/>
              </a:spcAft>
              <a:buClr>
                <a:schemeClr val="dk1"/>
              </a:buClr>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ANGULAR. MÉTODOS</a:t>
            </a:r>
            <a:endParaRPr/>
          </a:p>
        </p:txBody>
      </p:sp>
      <p:sp>
        <p:nvSpPr>
          <p:cNvPr id="136" name="Google Shape;136;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Del mismo modo, que creamos variables en la clase que podemos utilizar en component.html, también podremos crear métodos:</a:t>
            </a:r>
            <a:endParaRPr/>
          </a:p>
          <a:p>
            <a:pPr indent="-228600" lvl="0" marL="228600" rtl="0" algn="l">
              <a:lnSpc>
                <a:spcPct val="90000"/>
              </a:lnSpc>
              <a:spcBef>
                <a:spcPts val="1000"/>
              </a:spcBef>
              <a:spcAft>
                <a:spcPts val="0"/>
              </a:spcAft>
              <a:buClr>
                <a:schemeClr val="dk1"/>
              </a:buClr>
              <a:buSzPts val="2800"/>
              <a:buChar char="•"/>
            </a:pPr>
            <a:r>
              <a:rPr lang="es-ES"/>
              <a:t>Mejoremos el componente anterior añadiendo un método:</a:t>
            </a:r>
            <a:endParaRPr/>
          </a:p>
          <a:p>
            <a:pPr indent="-228600" lvl="0" marL="228600" rtl="0" algn="l">
              <a:lnSpc>
                <a:spcPct val="90000"/>
              </a:lnSpc>
              <a:spcBef>
                <a:spcPts val="1000"/>
              </a:spcBef>
              <a:spcAft>
                <a:spcPts val="0"/>
              </a:spcAft>
              <a:buClr>
                <a:schemeClr val="dk1"/>
              </a:buClr>
              <a:buSzPts val="2800"/>
              <a:buChar char="•"/>
            </a:pPr>
            <a:r>
              <a:rPr lang="es-ES"/>
              <a:t>Sumar(){</a:t>
            </a:r>
            <a:endParaRPr/>
          </a:p>
          <a:p>
            <a:pPr indent="-228600" lvl="1" marL="685800" rtl="0" algn="l">
              <a:lnSpc>
                <a:spcPct val="90000"/>
              </a:lnSpc>
              <a:spcBef>
                <a:spcPts val="500"/>
              </a:spcBef>
              <a:spcAft>
                <a:spcPts val="0"/>
              </a:spcAft>
              <a:buClr>
                <a:schemeClr val="dk1"/>
              </a:buClr>
              <a:buSzPts val="2400"/>
              <a:buChar char="•"/>
            </a:pPr>
            <a:r>
              <a:rPr lang="es-ES"/>
              <a:t>This.numero+=1;</a:t>
            </a:r>
            <a:endParaRPr/>
          </a:p>
          <a:p>
            <a:pPr indent="-228600" lvl="1" marL="685800" rtl="0" algn="l">
              <a:lnSpc>
                <a:spcPct val="90000"/>
              </a:lnSpc>
              <a:spcBef>
                <a:spcPts val="500"/>
              </a:spcBef>
              <a:spcAft>
                <a:spcPts val="0"/>
              </a:spcAft>
              <a:buClr>
                <a:schemeClr val="dk1"/>
              </a:buClr>
              <a:buSzPts val="2400"/>
              <a:buChar char="•"/>
            </a:pPr>
            <a:r>
              <a:rPr lang="es-ES"/>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ANGULAR. MÉTODOS</a:t>
            </a:r>
            <a:endParaRPr/>
          </a:p>
        </p:txBody>
      </p:sp>
      <p:sp>
        <p:nvSpPr>
          <p:cNvPr id="142" name="Google Shape;142;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Incluso podremos poner una base para el contador incremente y decremente con el valor que le indiquemos:</a:t>
            </a:r>
            <a:endParaRPr/>
          </a:p>
          <a:p>
            <a:pPr indent="-228600" lvl="0" marL="228600" rtl="0" algn="l">
              <a:lnSpc>
                <a:spcPct val="90000"/>
              </a:lnSpc>
              <a:spcBef>
                <a:spcPts val="1000"/>
              </a:spcBef>
              <a:spcAft>
                <a:spcPts val="0"/>
              </a:spcAft>
              <a:buClr>
                <a:schemeClr val="dk1"/>
              </a:buClr>
              <a:buSzPts val="2800"/>
              <a:buChar char="•"/>
            </a:pPr>
            <a:r>
              <a:rPr lang="es-ES"/>
              <a:t>Para ello tendremos que agregar una nueva variable en la clase llamada base. Además, un nuevo método que incremente o decremente en esa base.</a:t>
            </a:r>
            <a:endParaRPr/>
          </a:p>
          <a:p>
            <a:pPr indent="0" lvl="0" marL="0" rtl="0" algn="l">
              <a:lnSpc>
                <a:spcPct val="90000"/>
              </a:lnSpc>
              <a:spcBef>
                <a:spcPts val="1000"/>
              </a:spcBef>
              <a:spcAft>
                <a:spcPts val="0"/>
              </a:spcAft>
              <a:buClr>
                <a:schemeClr val="accent6"/>
              </a:buClr>
              <a:buSzPts val="2400"/>
              <a:buNone/>
            </a:pPr>
            <a:r>
              <a:rPr lang="es-ES" sz="2400">
                <a:solidFill>
                  <a:schemeClr val="accent6"/>
                </a:solidFill>
              </a:rPr>
              <a:t>cambio(valor:number){</a:t>
            </a:r>
            <a:endParaRPr/>
          </a:p>
          <a:p>
            <a:pPr indent="0" lvl="0" marL="0" rtl="0" algn="l">
              <a:lnSpc>
                <a:spcPct val="90000"/>
              </a:lnSpc>
              <a:spcBef>
                <a:spcPts val="1000"/>
              </a:spcBef>
              <a:spcAft>
                <a:spcPts val="0"/>
              </a:spcAft>
              <a:buClr>
                <a:schemeClr val="accent6"/>
              </a:buClr>
              <a:buSzPts val="2400"/>
              <a:buNone/>
            </a:pPr>
            <a:r>
              <a:rPr lang="es-ES" sz="2400">
                <a:solidFill>
                  <a:schemeClr val="accent6"/>
                </a:solidFill>
              </a:rPr>
              <a:t>  this.numero+=valor;</a:t>
            </a:r>
            <a:endParaRPr/>
          </a:p>
          <a:p>
            <a:pPr indent="0" lvl="0" marL="0" rtl="0" algn="l">
              <a:lnSpc>
                <a:spcPct val="90000"/>
              </a:lnSpc>
              <a:spcBef>
                <a:spcPts val="1000"/>
              </a:spcBef>
              <a:spcAft>
                <a:spcPts val="0"/>
              </a:spcAft>
              <a:buClr>
                <a:schemeClr val="accent6"/>
              </a:buClr>
              <a:buSzPts val="2400"/>
              <a:buNone/>
            </a:pPr>
            <a:r>
              <a:rPr lang="es-ES" sz="2400">
                <a:solidFill>
                  <a:schemeClr val="accent6"/>
                </a:solidFill>
              </a:rPr>
              <a: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CREAR COMPONENTE MANUALMENTE</a:t>
            </a:r>
            <a:endParaRPr/>
          </a:p>
        </p:txBody>
      </p:sp>
      <p:sp>
        <p:nvSpPr>
          <p:cNvPr id="148" name="Google Shape;148;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Si queremos crear nuestro componente manualmente, sólo tendremos que llamar al componente con el nombre que queramos, es decir, si lo que estamos haciendo es un contador, en vez de llamarlo </a:t>
            </a:r>
            <a:r>
              <a:rPr b="1" lang="es-ES"/>
              <a:t>app.component.html</a:t>
            </a:r>
            <a:r>
              <a:rPr lang="es-ES"/>
              <a:t>, lo llamaremos </a:t>
            </a:r>
            <a:r>
              <a:rPr b="1" lang="es-ES"/>
              <a:t>contador.component.html </a:t>
            </a:r>
            <a:r>
              <a:rPr lang="es-ES"/>
              <a:t>Además:</a:t>
            </a:r>
            <a:endParaRPr/>
          </a:p>
          <a:p>
            <a:pPr indent="-228600" lvl="1" marL="685800" rtl="0" algn="l">
              <a:lnSpc>
                <a:spcPct val="90000"/>
              </a:lnSpc>
              <a:spcBef>
                <a:spcPts val="500"/>
              </a:spcBef>
              <a:spcAft>
                <a:spcPts val="0"/>
              </a:spcAft>
              <a:buClr>
                <a:schemeClr val="dk1"/>
              </a:buClr>
              <a:buSzPts val="2400"/>
              <a:buChar char="•"/>
            </a:pPr>
            <a:r>
              <a:rPr lang="es-ES"/>
              <a:t>Tendremos que añadirlo al componente principal.</a:t>
            </a:r>
            <a:endParaRPr/>
          </a:p>
          <a:p>
            <a:pPr indent="-228600" lvl="1" marL="685800" rtl="0" algn="l">
              <a:lnSpc>
                <a:spcPct val="90000"/>
              </a:lnSpc>
              <a:spcBef>
                <a:spcPts val="500"/>
              </a:spcBef>
              <a:spcAft>
                <a:spcPts val="0"/>
              </a:spcAft>
              <a:buClr>
                <a:schemeClr val="dk1"/>
              </a:buClr>
              <a:buSzPts val="2400"/>
              <a:buChar char="•"/>
            </a:pPr>
            <a:r>
              <a:rPr lang="es-ES"/>
              <a:t>Tendremos que añadirlo en </a:t>
            </a:r>
            <a:r>
              <a:rPr b="1" lang="es-ES"/>
              <a:t>app.module.ts</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s-ES"/>
              <a:t>ORGANIZACIÓN DE LOS COMPONENTES		</a:t>
            </a:r>
            <a:endParaRPr/>
          </a:p>
        </p:txBody>
      </p:sp>
      <p:sp>
        <p:nvSpPr>
          <p:cNvPr id="154" name="Google Shape;154;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s-ES"/>
              <a:t>Los componentes se organizan por carpetas, es decir, salvo app.component, el resto de componentes que vayamos creando los tenemos que meter dentro de una carpeta. Incluso, si los componentes están compuestos por varios a su mismo tiempo, tendremos que crear subcarpetas para organizarlos…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2021-12-29T13:50:41Z</dcterms:created>
  <dc:creator>manue</dc:creator>
</cp:coreProperties>
</file>